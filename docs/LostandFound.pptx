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Unbounded"/>
      <p:regular r:id="rId17"/>
    </p:embeddedFont>
    <p:embeddedFont>
      <p:font typeface="Unbounded"/>
      <p:regular r:id="rId18"/>
    </p:embeddedFont>
    <p:embeddedFont>
      <p:font typeface="Cabin"/>
      <p:regular r:id="rId19"/>
    </p:embeddedFont>
    <p:embeddedFont>
      <p:font typeface="Cabin"/>
      <p:regular r:id="rId20"/>
    </p:embeddedFont>
    <p:embeddedFont>
      <p:font typeface="Cabin"/>
      <p:regular r:id="rId21"/>
    </p:embeddedFont>
    <p:embeddedFont>
      <p:font typeface="Cabin"/>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9.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2144197"/>
            <a:ext cx="7468553" cy="2816066"/>
          </a:xfrm>
          <a:prstGeom prst="rect">
            <a:avLst/>
          </a:prstGeom>
          <a:noFill/>
          <a:ln/>
        </p:spPr>
        <p:txBody>
          <a:bodyPr wrap="square" lIns="0" tIns="0" rIns="0" bIns="0" rtlCol="0" anchor="t"/>
          <a:lstStyle/>
          <a:p>
            <a:pPr indent="0" marL="0">
              <a:lnSpc>
                <a:spcPts val="5500"/>
              </a:lnSpc>
              <a:buNone/>
            </a:pPr>
            <a:r>
              <a:rPr lang="en-US" sz="4400" dirty="0">
                <a:solidFill>
                  <a:srgbClr val="FFFFFF"/>
                </a:solidFill>
                <a:latin typeface="Unbounded" pitchFamily="34" charset="0"/>
                <a:ea typeface="Unbounded" pitchFamily="34" charset="-122"/>
                <a:cs typeface="Unbounded" pitchFamily="34" charset="-120"/>
              </a:rPr>
              <a:t>Lost&amp;Found: Personalized Travel Discovery via Telegram</a:t>
            </a:r>
            <a:endParaRPr lang="en-US" sz="4400" dirty="0"/>
          </a:p>
        </p:txBody>
      </p:sp>
      <p:sp>
        <p:nvSpPr>
          <p:cNvPr id="4" name="Text 1"/>
          <p:cNvSpPr/>
          <p:nvPr/>
        </p:nvSpPr>
        <p:spPr>
          <a:xfrm>
            <a:off x="837724" y="5319236"/>
            <a:ext cx="7468553" cy="766048"/>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Telegram bot that delivers personalized travel recommendations enriched with historical insights, media references, and more. </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2677239"/>
            <a:ext cx="11546086"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Unbounded" pitchFamily="34" charset="0"/>
                <a:ea typeface="Unbounded" pitchFamily="34" charset="-122"/>
                <a:cs typeface="Unbounded" pitchFamily="34" charset="-120"/>
              </a:rPr>
              <a:t>Introduction &amp; Problem Statement</a:t>
            </a:r>
            <a:endParaRPr lang="en-US" sz="4400" dirty="0"/>
          </a:p>
        </p:txBody>
      </p:sp>
      <p:sp>
        <p:nvSpPr>
          <p:cNvPr id="3" name="Text 1"/>
          <p:cNvSpPr/>
          <p:nvPr/>
        </p:nvSpPr>
        <p:spPr>
          <a:xfrm>
            <a:off x="837724" y="3979545"/>
            <a:ext cx="3423166"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Unbounded" pitchFamily="34" charset="0"/>
                <a:ea typeface="Unbounded" pitchFamily="34" charset="-122"/>
                <a:cs typeface="Unbounded" pitchFamily="34" charset="-120"/>
              </a:rPr>
              <a:t>Travelers’ Challenge:</a:t>
            </a:r>
            <a:endParaRPr lang="en-US" sz="2200" dirty="0"/>
          </a:p>
        </p:txBody>
      </p:sp>
      <p:sp>
        <p:nvSpPr>
          <p:cNvPr id="4" name="Text 2"/>
          <p:cNvSpPr/>
          <p:nvPr/>
        </p:nvSpPr>
        <p:spPr>
          <a:xfrm>
            <a:off x="837724" y="4570809"/>
            <a:ext cx="6185535" cy="766048"/>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Difficulty finding destinations that match personal interests. Generic travel info that lacks depth and context.</a:t>
            </a:r>
            <a:endParaRPr lang="en-US" sz="1850" dirty="0"/>
          </a:p>
        </p:txBody>
      </p:sp>
      <p:sp>
        <p:nvSpPr>
          <p:cNvPr id="5" name="Text 3"/>
          <p:cNvSpPr/>
          <p:nvPr/>
        </p:nvSpPr>
        <p:spPr>
          <a:xfrm>
            <a:off x="7614761" y="3979545"/>
            <a:ext cx="2831306"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Unbounded" pitchFamily="34" charset="0"/>
                <a:ea typeface="Unbounded" pitchFamily="34" charset="-122"/>
                <a:cs typeface="Unbounded" pitchFamily="34" charset="-120"/>
              </a:rPr>
              <a:t>Our Opportunity:</a:t>
            </a:r>
            <a:endParaRPr lang="en-US" sz="2200" dirty="0"/>
          </a:p>
        </p:txBody>
      </p:sp>
      <p:sp>
        <p:nvSpPr>
          <p:cNvPr id="6" name="Text 4"/>
          <p:cNvSpPr/>
          <p:nvPr/>
        </p:nvSpPr>
        <p:spPr>
          <a:xfrm>
            <a:off x="7614761" y="4570809"/>
            <a:ext cx="6185535" cy="766048"/>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Personalized, enriched travel recommendations. </a:t>
            </a:r>
            <a:pPr indent="0" marL="0">
              <a:lnSpc>
                <a:spcPts val="3000"/>
              </a:lnSpc>
              <a:buNone/>
            </a:pPr>
            <a:r>
              <a:rPr lang="en-US" sz="1850" dirty="0">
                <a:solidFill>
                  <a:srgbClr val="CAD6DE"/>
                </a:solidFill>
                <a:latin typeface="Cabin" pitchFamily="34" charset="0"/>
                <a:ea typeface="Cabin" pitchFamily="34" charset="-122"/>
                <a:cs typeface="Cabin" pitchFamily="34" charset="-120"/>
              </a:rPr>
              <a:t>
</a:t>
            </a:r>
            <a:pPr indent="0" marL="0">
              <a:lnSpc>
                <a:spcPts val="3000"/>
              </a:lnSpc>
              <a:buNone/>
            </a:pPr>
            <a:r>
              <a:rPr lang="en-US" sz="1850" dirty="0">
                <a:solidFill>
                  <a:srgbClr val="CAD6DE"/>
                </a:solidFill>
                <a:latin typeface="Cabin" pitchFamily="34" charset="0"/>
                <a:ea typeface="Cabin" pitchFamily="34" charset="-122"/>
                <a:cs typeface="Cabin" pitchFamily="34" charset="-120"/>
              </a:rPr>
              <a:t>Aggregated, verified data from multiple sources.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2108121"/>
            <a:ext cx="5632490"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Unbounded" pitchFamily="34" charset="0"/>
                <a:ea typeface="Unbounded" pitchFamily="34" charset="-122"/>
                <a:cs typeface="Unbounded" pitchFamily="34" charset="-120"/>
              </a:rPr>
              <a:t>Our Solution</a:t>
            </a:r>
            <a:endParaRPr lang="en-US" sz="4400" dirty="0"/>
          </a:p>
        </p:txBody>
      </p:sp>
      <p:sp>
        <p:nvSpPr>
          <p:cNvPr id="4" name="Text 1"/>
          <p:cNvSpPr/>
          <p:nvPr/>
        </p:nvSpPr>
        <p:spPr>
          <a:xfrm>
            <a:off x="837724" y="3171111"/>
            <a:ext cx="7468553" cy="1532096"/>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The Lost&amp;Found Telegram bot, leverages advanced natural language processing to understand user queries and preferences. By integrating data from trusted sources like Google Places, Wikipedia, and OpenStreetMap, it offers a comprehensive view of each destination. </a:t>
            </a:r>
            <a:endParaRPr lang="en-US" sz="1850" dirty="0"/>
          </a:p>
        </p:txBody>
      </p:sp>
      <p:sp>
        <p:nvSpPr>
          <p:cNvPr id="5" name="Text 2"/>
          <p:cNvSpPr/>
          <p:nvPr/>
        </p:nvSpPr>
        <p:spPr>
          <a:xfrm>
            <a:off x="837724" y="4972407"/>
            <a:ext cx="7468553" cy="1149072"/>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Users receive not only location recommendations but also additional insights—such as historical events or notable films shot at the location—making travel planning both informative and engaging.</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047750"/>
            <a:ext cx="5632490"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Unbounded" pitchFamily="34" charset="0"/>
                <a:ea typeface="Unbounded" pitchFamily="34" charset="-122"/>
                <a:cs typeface="Unbounded" pitchFamily="34" charset="-120"/>
              </a:rPr>
              <a:t>Key Features</a:t>
            </a:r>
            <a:endParaRPr lang="en-US" sz="4400" dirty="0"/>
          </a:p>
        </p:txBody>
      </p:sp>
      <p:sp>
        <p:nvSpPr>
          <p:cNvPr id="4" name="Shape 1"/>
          <p:cNvSpPr/>
          <p:nvPr/>
        </p:nvSpPr>
        <p:spPr>
          <a:xfrm>
            <a:off x="837724" y="2379940"/>
            <a:ext cx="418862" cy="418862"/>
          </a:xfrm>
          <a:prstGeom prst="roundRect">
            <a:avLst>
              <a:gd name="adj" fmla="val 8573"/>
            </a:avLst>
          </a:prstGeom>
          <a:solidFill>
            <a:srgbClr val="304755"/>
          </a:solidFill>
          <a:ln/>
        </p:spPr>
      </p:sp>
      <p:sp>
        <p:nvSpPr>
          <p:cNvPr id="5" name="Text 2"/>
          <p:cNvSpPr/>
          <p:nvPr/>
        </p:nvSpPr>
        <p:spPr>
          <a:xfrm>
            <a:off x="1495901" y="2379940"/>
            <a:ext cx="5494734" cy="351949"/>
          </a:xfrm>
          <a:prstGeom prst="rect">
            <a:avLst/>
          </a:prstGeom>
          <a:noFill/>
          <a:ln/>
        </p:spPr>
        <p:txBody>
          <a:bodyPr wrap="none" lIns="0" tIns="0" rIns="0" bIns="0" rtlCol="0" anchor="t"/>
          <a:lstStyle/>
          <a:p>
            <a:pPr indent="0" marL="0">
              <a:lnSpc>
                <a:spcPts val="2750"/>
              </a:lnSpc>
              <a:buNone/>
            </a:pPr>
            <a:r>
              <a:rPr lang="en-US" sz="2200" dirty="0">
                <a:solidFill>
                  <a:srgbClr val="CAD6DE"/>
                </a:solidFill>
                <a:latin typeface="Unbounded" pitchFamily="34" charset="0"/>
                <a:ea typeface="Unbounded" pitchFamily="34" charset="-122"/>
                <a:cs typeface="Unbounded" pitchFamily="34" charset="-120"/>
              </a:rPr>
              <a:t>Personalized Recommendations:</a:t>
            </a:r>
            <a:endParaRPr lang="en-US" sz="2200" dirty="0"/>
          </a:p>
        </p:txBody>
      </p:sp>
      <p:sp>
        <p:nvSpPr>
          <p:cNvPr id="6" name="Text 3"/>
          <p:cNvSpPr/>
          <p:nvPr/>
        </p:nvSpPr>
        <p:spPr>
          <a:xfrm>
            <a:off x="1495901" y="2875478"/>
            <a:ext cx="6810375" cy="766048"/>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Tailored search results based on user-input criteria. </a:t>
            </a:r>
            <a:pPr indent="0" marL="0">
              <a:lnSpc>
                <a:spcPts val="3000"/>
              </a:lnSpc>
              <a:buNone/>
            </a:pPr>
            <a:r>
              <a:rPr lang="en-US" sz="1850" dirty="0">
                <a:solidFill>
                  <a:srgbClr val="CAD6DE"/>
                </a:solidFill>
                <a:latin typeface="Cabin" pitchFamily="34" charset="0"/>
                <a:ea typeface="Cabin" pitchFamily="34" charset="-122"/>
                <a:cs typeface="Cabin" pitchFamily="34" charset="-120"/>
              </a:rPr>
              <a:t>
</a:t>
            </a:r>
            <a:pPr indent="0" marL="0">
              <a:lnSpc>
                <a:spcPts val="3000"/>
              </a:lnSpc>
              <a:buNone/>
            </a:pPr>
            <a:r>
              <a:rPr lang="en-US" sz="1850" dirty="0">
                <a:solidFill>
                  <a:srgbClr val="CAD6DE"/>
                </a:solidFill>
                <a:latin typeface="Cabin" pitchFamily="34" charset="0"/>
                <a:ea typeface="Cabin" pitchFamily="34" charset="-122"/>
                <a:cs typeface="Cabin" pitchFamily="34" charset="-120"/>
              </a:rPr>
              <a:t>Utilizes semantic search (BM25, BERT) for precision.</a:t>
            </a:r>
            <a:endParaRPr lang="en-US" sz="1850" dirty="0"/>
          </a:p>
        </p:txBody>
      </p:sp>
      <p:sp>
        <p:nvSpPr>
          <p:cNvPr id="7" name="Shape 4"/>
          <p:cNvSpPr/>
          <p:nvPr/>
        </p:nvSpPr>
        <p:spPr>
          <a:xfrm>
            <a:off x="837724" y="4150042"/>
            <a:ext cx="418862" cy="418862"/>
          </a:xfrm>
          <a:prstGeom prst="roundRect">
            <a:avLst>
              <a:gd name="adj" fmla="val 8573"/>
            </a:avLst>
          </a:prstGeom>
          <a:solidFill>
            <a:srgbClr val="304755"/>
          </a:solidFill>
          <a:ln/>
        </p:spPr>
      </p:sp>
      <p:sp>
        <p:nvSpPr>
          <p:cNvPr id="8" name="Text 5"/>
          <p:cNvSpPr/>
          <p:nvPr/>
        </p:nvSpPr>
        <p:spPr>
          <a:xfrm>
            <a:off x="1495901" y="4150042"/>
            <a:ext cx="3624977" cy="351949"/>
          </a:xfrm>
          <a:prstGeom prst="rect">
            <a:avLst/>
          </a:prstGeom>
          <a:noFill/>
          <a:ln/>
        </p:spPr>
        <p:txBody>
          <a:bodyPr wrap="none" lIns="0" tIns="0" rIns="0" bIns="0" rtlCol="0" anchor="t"/>
          <a:lstStyle/>
          <a:p>
            <a:pPr indent="0" marL="0">
              <a:lnSpc>
                <a:spcPts val="2750"/>
              </a:lnSpc>
              <a:buNone/>
            </a:pPr>
            <a:r>
              <a:rPr lang="en-US" sz="2200" dirty="0">
                <a:solidFill>
                  <a:srgbClr val="CAD6DE"/>
                </a:solidFill>
                <a:latin typeface="Unbounded" pitchFamily="34" charset="0"/>
                <a:ea typeface="Unbounded" pitchFamily="34" charset="-122"/>
                <a:cs typeface="Unbounded" pitchFamily="34" charset="-120"/>
              </a:rPr>
              <a:t>Enriched Information:</a:t>
            </a:r>
            <a:endParaRPr lang="en-US" sz="2200" dirty="0"/>
          </a:p>
        </p:txBody>
      </p:sp>
      <p:sp>
        <p:nvSpPr>
          <p:cNvPr id="9" name="Text 6"/>
          <p:cNvSpPr/>
          <p:nvPr/>
        </p:nvSpPr>
        <p:spPr>
          <a:xfrm>
            <a:off x="1495901" y="4645581"/>
            <a:ext cx="6810375" cy="766048"/>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Detailed background including history and cultural context. Media references and notable events related to the location.</a:t>
            </a:r>
            <a:endParaRPr lang="en-US" sz="1850" dirty="0"/>
          </a:p>
        </p:txBody>
      </p:sp>
      <p:sp>
        <p:nvSpPr>
          <p:cNvPr id="10" name="Shape 7"/>
          <p:cNvSpPr/>
          <p:nvPr/>
        </p:nvSpPr>
        <p:spPr>
          <a:xfrm>
            <a:off x="837724" y="5920145"/>
            <a:ext cx="418862" cy="418862"/>
          </a:xfrm>
          <a:prstGeom prst="roundRect">
            <a:avLst>
              <a:gd name="adj" fmla="val 8573"/>
            </a:avLst>
          </a:prstGeom>
          <a:solidFill>
            <a:srgbClr val="304755"/>
          </a:solidFill>
          <a:ln/>
        </p:spPr>
      </p:sp>
      <p:sp>
        <p:nvSpPr>
          <p:cNvPr id="11" name="Text 8"/>
          <p:cNvSpPr/>
          <p:nvPr/>
        </p:nvSpPr>
        <p:spPr>
          <a:xfrm>
            <a:off x="1495901" y="5920145"/>
            <a:ext cx="4198620" cy="351949"/>
          </a:xfrm>
          <a:prstGeom prst="rect">
            <a:avLst/>
          </a:prstGeom>
          <a:noFill/>
          <a:ln/>
        </p:spPr>
        <p:txBody>
          <a:bodyPr wrap="none" lIns="0" tIns="0" rIns="0" bIns="0" rtlCol="0" anchor="t"/>
          <a:lstStyle/>
          <a:p>
            <a:pPr indent="0" marL="0">
              <a:lnSpc>
                <a:spcPts val="2750"/>
              </a:lnSpc>
              <a:buNone/>
            </a:pPr>
            <a:r>
              <a:rPr lang="en-US" sz="2200" dirty="0">
                <a:solidFill>
                  <a:srgbClr val="CAD6DE"/>
                </a:solidFill>
                <a:latin typeface="Unbounded" pitchFamily="34" charset="0"/>
                <a:ea typeface="Unbounded" pitchFamily="34" charset="-122"/>
                <a:cs typeface="Unbounded" pitchFamily="34" charset="-120"/>
              </a:rPr>
              <a:t>User-Friendly Interaction:</a:t>
            </a:r>
            <a:endParaRPr lang="en-US" sz="2200" dirty="0"/>
          </a:p>
        </p:txBody>
      </p:sp>
      <p:sp>
        <p:nvSpPr>
          <p:cNvPr id="12" name="Text 9"/>
          <p:cNvSpPr/>
          <p:nvPr/>
        </p:nvSpPr>
        <p:spPr>
          <a:xfrm>
            <a:off x="1495901" y="6415683"/>
            <a:ext cx="6810375" cy="766048"/>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Intuitive commands within Telegram. Seamless conversation flow for enhanced user engagement.</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2242661"/>
            <a:ext cx="6947773"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Unbounded" pitchFamily="34" charset="0"/>
                <a:ea typeface="Unbounded" pitchFamily="34" charset="-122"/>
                <a:cs typeface="Unbounded" pitchFamily="34" charset="-120"/>
              </a:rPr>
              <a:t>System Architecture</a:t>
            </a:r>
            <a:endParaRPr lang="en-US" sz="4400" dirty="0"/>
          </a:p>
        </p:txBody>
      </p:sp>
      <p:sp>
        <p:nvSpPr>
          <p:cNvPr id="4" name="Text 1"/>
          <p:cNvSpPr/>
          <p:nvPr/>
        </p:nvSpPr>
        <p:spPr>
          <a:xfrm>
            <a:off x="6324124" y="3305651"/>
            <a:ext cx="7468553" cy="2681168"/>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Our system architecture is composed of several key components. Data collection modules use APIs to gather information, which is then cleaned and normalized before storage in either PostgreSQL or Elasticsearch. The NLP component processes user reviews and queries to extract sentiments and key themes, while our backend API, built with FastAPI, handles search requests and recommendations. Finally, the Telegram bot serves as the user interface, managing all interactions with our system.</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1890713"/>
            <a:ext cx="7468553" cy="1408033"/>
          </a:xfrm>
          <a:prstGeom prst="rect">
            <a:avLst/>
          </a:prstGeom>
          <a:noFill/>
          <a:ln/>
        </p:spPr>
        <p:txBody>
          <a:bodyPr wrap="square" lIns="0" tIns="0" rIns="0" bIns="0" rtlCol="0" anchor="t"/>
          <a:lstStyle/>
          <a:p>
            <a:pPr indent="0" marL="0">
              <a:lnSpc>
                <a:spcPts val="5500"/>
              </a:lnSpc>
              <a:buNone/>
            </a:pPr>
            <a:r>
              <a:rPr lang="en-US" sz="4400" dirty="0">
                <a:solidFill>
                  <a:srgbClr val="FFFFFF"/>
                </a:solidFill>
                <a:latin typeface="Unbounded" pitchFamily="34" charset="0"/>
                <a:ea typeface="Unbounded" pitchFamily="34" charset="-122"/>
                <a:cs typeface="Unbounded" pitchFamily="34" charset="-120"/>
              </a:rPr>
              <a:t>Data Sources &amp; Enrichment</a:t>
            </a:r>
            <a:endParaRPr lang="en-US" sz="4400" dirty="0"/>
          </a:p>
        </p:txBody>
      </p:sp>
      <p:sp>
        <p:nvSpPr>
          <p:cNvPr id="4" name="Text 1"/>
          <p:cNvSpPr/>
          <p:nvPr/>
        </p:nvSpPr>
        <p:spPr>
          <a:xfrm>
            <a:off x="6324124" y="3657719"/>
            <a:ext cx="7468553" cy="2681168"/>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To ensure the recommendations are both accurate and engaging, we rely on several primary data sources. Google Places provides the essential details and user reviews, Wikipedia supplies the historical and contextual background, and OpenStreetMap guarantees reliable geographic data. We further enrich this information by cross-referencing additional details, such as notable historical events and media references, ensuring that every recommendation is both informative and interesting.</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82216" y="458272"/>
            <a:ext cx="3914418" cy="489347"/>
          </a:xfrm>
          <a:prstGeom prst="rect">
            <a:avLst/>
          </a:prstGeom>
          <a:noFill/>
          <a:ln/>
        </p:spPr>
        <p:txBody>
          <a:bodyPr wrap="none" lIns="0" tIns="0" rIns="0" bIns="0" rtlCol="0" anchor="t"/>
          <a:lstStyle/>
          <a:p>
            <a:pPr indent="0" marL="0">
              <a:lnSpc>
                <a:spcPts val="3850"/>
              </a:lnSpc>
              <a:buNone/>
            </a:pPr>
            <a:r>
              <a:rPr lang="en-US" sz="3050" dirty="0">
                <a:solidFill>
                  <a:srgbClr val="FFFFFF"/>
                </a:solidFill>
                <a:latin typeface="Unbounded" pitchFamily="34" charset="0"/>
                <a:ea typeface="Unbounded" pitchFamily="34" charset="-122"/>
                <a:cs typeface="Unbounded" pitchFamily="34" charset="-120"/>
              </a:rPr>
              <a:t>Project Timeline</a:t>
            </a:r>
            <a:endParaRPr lang="en-US" sz="3050" dirty="0"/>
          </a:p>
        </p:txBody>
      </p:sp>
      <p:sp>
        <p:nvSpPr>
          <p:cNvPr id="3" name="Shape 1"/>
          <p:cNvSpPr/>
          <p:nvPr/>
        </p:nvSpPr>
        <p:spPr>
          <a:xfrm>
            <a:off x="820222" y="1280279"/>
            <a:ext cx="22860" cy="6490930"/>
          </a:xfrm>
          <a:prstGeom prst="roundRect">
            <a:avLst>
              <a:gd name="adj" fmla="val 109164"/>
            </a:avLst>
          </a:prstGeom>
          <a:solidFill>
            <a:srgbClr val="49606E"/>
          </a:solidFill>
          <a:ln/>
        </p:spPr>
      </p:sp>
      <p:sp>
        <p:nvSpPr>
          <p:cNvPr id="4" name="Shape 2"/>
          <p:cNvSpPr/>
          <p:nvPr/>
        </p:nvSpPr>
        <p:spPr>
          <a:xfrm>
            <a:off x="995898" y="1642943"/>
            <a:ext cx="582216" cy="22860"/>
          </a:xfrm>
          <a:prstGeom prst="roundRect">
            <a:avLst>
              <a:gd name="adj" fmla="val 109164"/>
            </a:avLst>
          </a:prstGeom>
          <a:solidFill>
            <a:srgbClr val="49606E"/>
          </a:solidFill>
          <a:ln/>
        </p:spPr>
      </p:sp>
      <p:sp>
        <p:nvSpPr>
          <p:cNvPr id="5" name="Shape 3"/>
          <p:cNvSpPr/>
          <p:nvPr/>
        </p:nvSpPr>
        <p:spPr>
          <a:xfrm>
            <a:off x="644545" y="1467326"/>
            <a:ext cx="374213" cy="374213"/>
          </a:xfrm>
          <a:prstGeom prst="roundRect">
            <a:avLst>
              <a:gd name="adj" fmla="val 6669"/>
            </a:avLst>
          </a:prstGeom>
          <a:solidFill>
            <a:srgbClr val="304755"/>
          </a:solidFill>
          <a:ln/>
        </p:spPr>
      </p:sp>
      <p:sp>
        <p:nvSpPr>
          <p:cNvPr id="6" name="Text 4"/>
          <p:cNvSpPr/>
          <p:nvPr/>
        </p:nvSpPr>
        <p:spPr>
          <a:xfrm>
            <a:off x="776347" y="1536978"/>
            <a:ext cx="110609" cy="234910"/>
          </a:xfrm>
          <a:prstGeom prst="rect">
            <a:avLst/>
          </a:prstGeom>
          <a:noFill/>
          <a:ln/>
        </p:spPr>
        <p:txBody>
          <a:bodyPr wrap="none" lIns="0" tIns="0" rIns="0" bIns="0" rtlCol="0" anchor="t"/>
          <a:lstStyle/>
          <a:p>
            <a:pPr algn="ctr" indent="0" marL="0">
              <a:lnSpc>
                <a:spcPts val="1800"/>
              </a:lnSpc>
              <a:buNone/>
            </a:pPr>
            <a:r>
              <a:rPr lang="en-US" sz="1800" dirty="0">
                <a:solidFill>
                  <a:srgbClr val="CAD6DE"/>
                </a:solidFill>
                <a:latin typeface="Unbounded" pitchFamily="34" charset="0"/>
                <a:ea typeface="Unbounded" pitchFamily="34" charset="-122"/>
                <a:cs typeface="Unbounded" pitchFamily="34" charset="-120"/>
              </a:rPr>
              <a:t>1</a:t>
            </a:r>
            <a:endParaRPr lang="en-US" sz="1800" dirty="0"/>
          </a:p>
        </p:txBody>
      </p:sp>
      <p:sp>
        <p:nvSpPr>
          <p:cNvPr id="7" name="Text 5"/>
          <p:cNvSpPr/>
          <p:nvPr/>
        </p:nvSpPr>
        <p:spPr>
          <a:xfrm>
            <a:off x="1746647" y="1446609"/>
            <a:ext cx="3934182" cy="244673"/>
          </a:xfrm>
          <a:prstGeom prst="rect">
            <a:avLst/>
          </a:prstGeom>
          <a:noFill/>
          <a:ln/>
        </p:spPr>
        <p:txBody>
          <a:bodyPr wrap="none" lIns="0" tIns="0" rIns="0" bIns="0" rtlCol="0" anchor="t"/>
          <a:lstStyle/>
          <a:p>
            <a:pPr algn="l" indent="0" marL="0">
              <a:lnSpc>
                <a:spcPts val="1900"/>
              </a:lnSpc>
              <a:buNone/>
            </a:pPr>
            <a:r>
              <a:rPr lang="en-US" sz="1500" dirty="0">
                <a:solidFill>
                  <a:srgbClr val="CAD6DE"/>
                </a:solidFill>
                <a:latin typeface="Unbounded" pitchFamily="34" charset="0"/>
                <a:ea typeface="Unbounded" pitchFamily="34" charset="-122"/>
                <a:cs typeface="Unbounded" pitchFamily="34" charset="-120"/>
              </a:rPr>
              <a:t>Requirements &amp; Planning (Week 1):</a:t>
            </a:r>
            <a:endParaRPr lang="en-US" sz="1500" dirty="0"/>
          </a:p>
        </p:txBody>
      </p:sp>
      <p:sp>
        <p:nvSpPr>
          <p:cNvPr id="8" name="Text 6"/>
          <p:cNvSpPr/>
          <p:nvPr/>
        </p:nvSpPr>
        <p:spPr>
          <a:xfrm>
            <a:off x="1746647" y="1791057"/>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CAD6DE"/>
                </a:solidFill>
                <a:latin typeface="Cabin" pitchFamily="34" charset="0"/>
                <a:ea typeface="Cabin" pitchFamily="34" charset="-122"/>
                <a:cs typeface="Cabin" pitchFamily="34" charset="-120"/>
              </a:rPr>
              <a:t>Define scope, architecture, roles.</a:t>
            </a:r>
            <a:endParaRPr lang="en-US" sz="1300" dirty="0"/>
          </a:p>
        </p:txBody>
      </p:sp>
      <p:sp>
        <p:nvSpPr>
          <p:cNvPr id="9" name="Shape 7"/>
          <p:cNvSpPr/>
          <p:nvPr/>
        </p:nvSpPr>
        <p:spPr>
          <a:xfrm>
            <a:off x="995898" y="2752487"/>
            <a:ext cx="582216" cy="22860"/>
          </a:xfrm>
          <a:prstGeom prst="roundRect">
            <a:avLst>
              <a:gd name="adj" fmla="val 109164"/>
            </a:avLst>
          </a:prstGeom>
          <a:solidFill>
            <a:srgbClr val="49606E"/>
          </a:solidFill>
          <a:ln/>
        </p:spPr>
      </p:sp>
      <p:sp>
        <p:nvSpPr>
          <p:cNvPr id="10" name="Shape 8"/>
          <p:cNvSpPr/>
          <p:nvPr/>
        </p:nvSpPr>
        <p:spPr>
          <a:xfrm>
            <a:off x="644545" y="2576870"/>
            <a:ext cx="374213" cy="374213"/>
          </a:xfrm>
          <a:prstGeom prst="roundRect">
            <a:avLst>
              <a:gd name="adj" fmla="val 6669"/>
            </a:avLst>
          </a:prstGeom>
          <a:solidFill>
            <a:srgbClr val="304755"/>
          </a:solidFill>
          <a:ln/>
        </p:spPr>
      </p:sp>
      <p:sp>
        <p:nvSpPr>
          <p:cNvPr id="11" name="Text 9"/>
          <p:cNvSpPr/>
          <p:nvPr/>
        </p:nvSpPr>
        <p:spPr>
          <a:xfrm>
            <a:off x="738961" y="2646521"/>
            <a:ext cx="185261" cy="234910"/>
          </a:xfrm>
          <a:prstGeom prst="rect">
            <a:avLst/>
          </a:prstGeom>
          <a:noFill/>
          <a:ln/>
        </p:spPr>
        <p:txBody>
          <a:bodyPr wrap="none" lIns="0" tIns="0" rIns="0" bIns="0" rtlCol="0" anchor="t"/>
          <a:lstStyle/>
          <a:p>
            <a:pPr algn="ctr" indent="0" marL="0">
              <a:lnSpc>
                <a:spcPts val="1800"/>
              </a:lnSpc>
              <a:buNone/>
            </a:pPr>
            <a:r>
              <a:rPr lang="en-US" sz="1800" dirty="0">
                <a:solidFill>
                  <a:srgbClr val="CAD6DE"/>
                </a:solidFill>
                <a:latin typeface="Unbounded" pitchFamily="34" charset="0"/>
                <a:ea typeface="Unbounded" pitchFamily="34" charset="-122"/>
                <a:cs typeface="Unbounded" pitchFamily="34" charset="-120"/>
              </a:rPr>
              <a:t>2</a:t>
            </a:r>
            <a:endParaRPr lang="en-US" sz="1800" dirty="0"/>
          </a:p>
        </p:txBody>
      </p:sp>
      <p:sp>
        <p:nvSpPr>
          <p:cNvPr id="12" name="Text 10"/>
          <p:cNvSpPr/>
          <p:nvPr/>
        </p:nvSpPr>
        <p:spPr>
          <a:xfrm>
            <a:off x="1746647" y="2556153"/>
            <a:ext cx="3260646" cy="244673"/>
          </a:xfrm>
          <a:prstGeom prst="rect">
            <a:avLst/>
          </a:prstGeom>
          <a:noFill/>
          <a:ln/>
        </p:spPr>
        <p:txBody>
          <a:bodyPr wrap="none" lIns="0" tIns="0" rIns="0" bIns="0" rtlCol="0" anchor="t"/>
          <a:lstStyle/>
          <a:p>
            <a:pPr algn="l" indent="0" marL="0">
              <a:lnSpc>
                <a:spcPts val="1900"/>
              </a:lnSpc>
              <a:buNone/>
            </a:pPr>
            <a:r>
              <a:rPr lang="en-US" sz="1500" dirty="0">
                <a:solidFill>
                  <a:srgbClr val="CAD6DE"/>
                </a:solidFill>
                <a:latin typeface="Unbounded" pitchFamily="34" charset="0"/>
                <a:ea typeface="Unbounded" pitchFamily="34" charset="-122"/>
                <a:cs typeface="Unbounded" pitchFamily="34" charset="-120"/>
              </a:rPr>
              <a:t>Data Collection (Weeks 2-3):</a:t>
            </a:r>
            <a:endParaRPr lang="en-US" sz="1500" dirty="0"/>
          </a:p>
        </p:txBody>
      </p:sp>
      <p:sp>
        <p:nvSpPr>
          <p:cNvPr id="13" name="Text 11"/>
          <p:cNvSpPr/>
          <p:nvPr/>
        </p:nvSpPr>
        <p:spPr>
          <a:xfrm>
            <a:off x="1746647" y="2900601"/>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CAD6DE"/>
                </a:solidFill>
                <a:latin typeface="Cabin" pitchFamily="34" charset="0"/>
                <a:ea typeface="Cabin" pitchFamily="34" charset="-122"/>
                <a:cs typeface="Cabin" pitchFamily="34" charset="-120"/>
              </a:rPr>
              <a:t>Develop parsers, clean &amp; normalize data.</a:t>
            </a:r>
            <a:endParaRPr lang="en-US" sz="1300" dirty="0"/>
          </a:p>
        </p:txBody>
      </p:sp>
      <p:sp>
        <p:nvSpPr>
          <p:cNvPr id="14" name="Shape 12"/>
          <p:cNvSpPr/>
          <p:nvPr/>
        </p:nvSpPr>
        <p:spPr>
          <a:xfrm>
            <a:off x="995898" y="3862030"/>
            <a:ext cx="582216" cy="22860"/>
          </a:xfrm>
          <a:prstGeom prst="roundRect">
            <a:avLst>
              <a:gd name="adj" fmla="val 109164"/>
            </a:avLst>
          </a:prstGeom>
          <a:solidFill>
            <a:srgbClr val="49606E"/>
          </a:solidFill>
          <a:ln/>
        </p:spPr>
      </p:sp>
      <p:sp>
        <p:nvSpPr>
          <p:cNvPr id="15" name="Shape 13"/>
          <p:cNvSpPr/>
          <p:nvPr/>
        </p:nvSpPr>
        <p:spPr>
          <a:xfrm>
            <a:off x="644545" y="3686413"/>
            <a:ext cx="374213" cy="374213"/>
          </a:xfrm>
          <a:prstGeom prst="roundRect">
            <a:avLst>
              <a:gd name="adj" fmla="val 6669"/>
            </a:avLst>
          </a:prstGeom>
          <a:solidFill>
            <a:srgbClr val="304755"/>
          </a:solidFill>
          <a:ln/>
        </p:spPr>
      </p:sp>
      <p:sp>
        <p:nvSpPr>
          <p:cNvPr id="16" name="Text 14"/>
          <p:cNvSpPr/>
          <p:nvPr/>
        </p:nvSpPr>
        <p:spPr>
          <a:xfrm>
            <a:off x="737175" y="3756065"/>
            <a:ext cx="188833" cy="234910"/>
          </a:xfrm>
          <a:prstGeom prst="rect">
            <a:avLst/>
          </a:prstGeom>
          <a:noFill/>
          <a:ln/>
        </p:spPr>
        <p:txBody>
          <a:bodyPr wrap="none" lIns="0" tIns="0" rIns="0" bIns="0" rtlCol="0" anchor="t"/>
          <a:lstStyle/>
          <a:p>
            <a:pPr algn="ctr" indent="0" marL="0">
              <a:lnSpc>
                <a:spcPts val="1800"/>
              </a:lnSpc>
              <a:buNone/>
            </a:pPr>
            <a:r>
              <a:rPr lang="en-US" sz="1800" dirty="0">
                <a:solidFill>
                  <a:srgbClr val="CAD6DE"/>
                </a:solidFill>
                <a:latin typeface="Unbounded" pitchFamily="34" charset="0"/>
                <a:ea typeface="Unbounded" pitchFamily="34" charset="-122"/>
                <a:cs typeface="Unbounded" pitchFamily="34" charset="-120"/>
              </a:rPr>
              <a:t>3</a:t>
            </a:r>
            <a:endParaRPr lang="en-US" sz="1800" dirty="0"/>
          </a:p>
        </p:txBody>
      </p:sp>
      <p:sp>
        <p:nvSpPr>
          <p:cNvPr id="17" name="Text 15"/>
          <p:cNvSpPr/>
          <p:nvPr/>
        </p:nvSpPr>
        <p:spPr>
          <a:xfrm>
            <a:off x="1746647" y="3665696"/>
            <a:ext cx="3533299" cy="244673"/>
          </a:xfrm>
          <a:prstGeom prst="rect">
            <a:avLst/>
          </a:prstGeom>
          <a:noFill/>
          <a:ln/>
        </p:spPr>
        <p:txBody>
          <a:bodyPr wrap="none" lIns="0" tIns="0" rIns="0" bIns="0" rtlCol="0" anchor="t"/>
          <a:lstStyle/>
          <a:p>
            <a:pPr algn="l" indent="0" marL="0">
              <a:lnSpc>
                <a:spcPts val="1900"/>
              </a:lnSpc>
              <a:buNone/>
            </a:pPr>
            <a:r>
              <a:rPr lang="en-US" sz="1500" dirty="0">
                <a:solidFill>
                  <a:srgbClr val="CAD6DE"/>
                </a:solidFill>
                <a:latin typeface="Unbounded" pitchFamily="34" charset="0"/>
                <a:ea typeface="Unbounded" pitchFamily="34" charset="-122"/>
                <a:cs typeface="Unbounded" pitchFamily="34" charset="-120"/>
              </a:rPr>
              <a:t>NLP Development (Weeks 4-5):</a:t>
            </a:r>
            <a:endParaRPr lang="en-US" sz="1500" dirty="0"/>
          </a:p>
        </p:txBody>
      </p:sp>
      <p:sp>
        <p:nvSpPr>
          <p:cNvPr id="18" name="Text 16"/>
          <p:cNvSpPr/>
          <p:nvPr/>
        </p:nvSpPr>
        <p:spPr>
          <a:xfrm>
            <a:off x="1746647" y="4010144"/>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CAD6DE"/>
                </a:solidFill>
                <a:latin typeface="Cabin" pitchFamily="34" charset="0"/>
                <a:ea typeface="Cabin" pitchFamily="34" charset="-122"/>
                <a:cs typeface="Cabin" pitchFamily="34" charset="-120"/>
              </a:rPr>
              <a:t>Implement sentiment analysis and semantic search.</a:t>
            </a:r>
            <a:endParaRPr lang="en-US" sz="1300" dirty="0"/>
          </a:p>
        </p:txBody>
      </p:sp>
      <p:sp>
        <p:nvSpPr>
          <p:cNvPr id="19" name="Shape 17"/>
          <p:cNvSpPr/>
          <p:nvPr/>
        </p:nvSpPr>
        <p:spPr>
          <a:xfrm>
            <a:off x="995898" y="4971574"/>
            <a:ext cx="582216" cy="22860"/>
          </a:xfrm>
          <a:prstGeom prst="roundRect">
            <a:avLst>
              <a:gd name="adj" fmla="val 109164"/>
            </a:avLst>
          </a:prstGeom>
          <a:solidFill>
            <a:srgbClr val="49606E"/>
          </a:solidFill>
          <a:ln/>
        </p:spPr>
      </p:sp>
      <p:sp>
        <p:nvSpPr>
          <p:cNvPr id="20" name="Shape 18"/>
          <p:cNvSpPr/>
          <p:nvPr/>
        </p:nvSpPr>
        <p:spPr>
          <a:xfrm>
            <a:off x="644545" y="4795957"/>
            <a:ext cx="374213" cy="374213"/>
          </a:xfrm>
          <a:prstGeom prst="roundRect">
            <a:avLst>
              <a:gd name="adj" fmla="val 6669"/>
            </a:avLst>
          </a:prstGeom>
          <a:solidFill>
            <a:srgbClr val="304755"/>
          </a:solidFill>
          <a:ln/>
        </p:spPr>
      </p:sp>
      <p:sp>
        <p:nvSpPr>
          <p:cNvPr id="21" name="Text 19"/>
          <p:cNvSpPr/>
          <p:nvPr/>
        </p:nvSpPr>
        <p:spPr>
          <a:xfrm>
            <a:off x="737295" y="4865608"/>
            <a:ext cx="188595" cy="234910"/>
          </a:xfrm>
          <a:prstGeom prst="rect">
            <a:avLst/>
          </a:prstGeom>
          <a:noFill/>
          <a:ln/>
        </p:spPr>
        <p:txBody>
          <a:bodyPr wrap="none" lIns="0" tIns="0" rIns="0" bIns="0" rtlCol="0" anchor="t"/>
          <a:lstStyle/>
          <a:p>
            <a:pPr algn="ctr" indent="0" marL="0">
              <a:lnSpc>
                <a:spcPts val="1800"/>
              </a:lnSpc>
              <a:buNone/>
            </a:pPr>
            <a:r>
              <a:rPr lang="en-US" sz="1800" dirty="0">
                <a:solidFill>
                  <a:srgbClr val="CAD6DE"/>
                </a:solidFill>
                <a:latin typeface="Unbounded" pitchFamily="34" charset="0"/>
                <a:ea typeface="Unbounded" pitchFamily="34" charset="-122"/>
                <a:cs typeface="Unbounded" pitchFamily="34" charset="-120"/>
              </a:rPr>
              <a:t>4</a:t>
            </a:r>
            <a:endParaRPr lang="en-US" sz="1800" dirty="0"/>
          </a:p>
        </p:txBody>
      </p:sp>
      <p:sp>
        <p:nvSpPr>
          <p:cNvPr id="22" name="Text 20"/>
          <p:cNvSpPr/>
          <p:nvPr/>
        </p:nvSpPr>
        <p:spPr>
          <a:xfrm>
            <a:off x="1746647" y="4775240"/>
            <a:ext cx="2933224" cy="244673"/>
          </a:xfrm>
          <a:prstGeom prst="rect">
            <a:avLst/>
          </a:prstGeom>
          <a:noFill/>
          <a:ln/>
        </p:spPr>
        <p:txBody>
          <a:bodyPr wrap="none" lIns="0" tIns="0" rIns="0" bIns="0" rtlCol="0" anchor="t"/>
          <a:lstStyle/>
          <a:p>
            <a:pPr algn="l" indent="0" marL="0">
              <a:lnSpc>
                <a:spcPts val="1900"/>
              </a:lnSpc>
              <a:buNone/>
            </a:pPr>
            <a:r>
              <a:rPr lang="en-US" sz="1500" dirty="0">
                <a:solidFill>
                  <a:srgbClr val="CAD6DE"/>
                </a:solidFill>
                <a:latin typeface="Unbounded" pitchFamily="34" charset="0"/>
                <a:ea typeface="Unbounded" pitchFamily="34" charset="-122"/>
                <a:cs typeface="Unbounded" pitchFamily="34" charset="-120"/>
              </a:rPr>
              <a:t>Backend API (Weeks 6-8):</a:t>
            </a:r>
            <a:endParaRPr lang="en-US" sz="1500" dirty="0"/>
          </a:p>
        </p:txBody>
      </p:sp>
      <p:sp>
        <p:nvSpPr>
          <p:cNvPr id="23" name="Text 21"/>
          <p:cNvSpPr/>
          <p:nvPr/>
        </p:nvSpPr>
        <p:spPr>
          <a:xfrm>
            <a:off x="1746647" y="5119687"/>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CAD6DE"/>
                </a:solidFill>
                <a:latin typeface="Cabin" pitchFamily="34" charset="0"/>
                <a:ea typeface="Cabin" pitchFamily="34" charset="-122"/>
                <a:cs typeface="Cabin" pitchFamily="34" charset="-120"/>
              </a:rPr>
              <a:t>API development and integration.</a:t>
            </a:r>
            <a:endParaRPr lang="en-US" sz="1300" dirty="0"/>
          </a:p>
        </p:txBody>
      </p:sp>
      <p:sp>
        <p:nvSpPr>
          <p:cNvPr id="24" name="Shape 22"/>
          <p:cNvSpPr/>
          <p:nvPr/>
        </p:nvSpPr>
        <p:spPr>
          <a:xfrm>
            <a:off x="995898" y="6081117"/>
            <a:ext cx="582216" cy="22860"/>
          </a:xfrm>
          <a:prstGeom prst="roundRect">
            <a:avLst>
              <a:gd name="adj" fmla="val 109164"/>
            </a:avLst>
          </a:prstGeom>
          <a:solidFill>
            <a:srgbClr val="49606E"/>
          </a:solidFill>
          <a:ln/>
        </p:spPr>
      </p:sp>
      <p:sp>
        <p:nvSpPr>
          <p:cNvPr id="25" name="Shape 23"/>
          <p:cNvSpPr/>
          <p:nvPr/>
        </p:nvSpPr>
        <p:spPr>
          <a:xfrm>
            <a:off x="644545" y="5905500"/>
            <a:ext cx="374213" cy="374213"/>
          </a:xfrm>
          <a:prstGeom prst="roundRect">
            <a:avLst>
              <a:gd name="adj" fmla="val 6669"/>
            </a:avLst>
          </a:prstGeom>
          <a:solidFill>
            <a:srgbClr val="304755"/>
          </a:solidFill>
          <a:ln/>
        </p:spPr>
      </p:sp>
      <p:sp>
        <p:nvSpPr>
          <p:cNvPr id="26" name="Text 24"/>
          <p:cNvSpPr/>
          <p:nvPr/>
        </p:nvSpPr>
        <p:spPr>
          <a:xfrm>
            <a:off x="740628" y="5975152"/>
            <a:ext cx="182047" cy="234910"/>
          </a:xfrm>
          <a:prstGeom prst="rect">
            <a:avLst/>
          </a:prstGeom>
          <a:noFill/>
          <a:ln/>
        </p:spPr>
        <p:txBody>
          <a:bodyPr wrap="none" lIns="0" tIns="0" rIns="0" bIns="0" rtlCol="0" anchor="t"/>
          <a:lstStyle/>
          <a:p>
            <a:pPr algn="ctr" indent="0" marL="0">
              <a:lnSpc>
                <a:spcPts val="1800"/>
              </a:lnSpc>
              <a:buNone/>
            </a:pPr>
            <a:r>
              <a:rPr lang="en-US" sz="1800" dirty="0">
                <a:solidFill>
                  <a:srgbClr val="CAD6DE"/>
                </a:solidFill>
                <a:latin typeface="Unbounded" pitchFamily="34" charset="0"/>
                <a:ea typeface="Unbounded" pitchFamily="34" charset="-122"/>
                <a:cs typeface="Unbounded" pitchFamily="34" charset="-120"/>
              </a:rPr>
              <a:t>5</a:t>
            </a:r>
            <a:endParaRPr lang="en-US" sz="1800" dirty="0"/>
          </a:p>
        </p:txBody>
      </p:sp>
      <p:sp>
        <p:nvSpPr>
          <p:cNvPr id="27" name="Text 25"/>
          <p:cNvSpPr/>
          <p:nvPr/>
        </p:nvSpPr>
        <p:spPr>
          <a:xfrm>
            <a:off x="1746647" y="5884783"/>
            <a:ext cx="3102412" cy="244673"/>
          </a:xfrm>
          <a:prstGeom prst="rect">
            <a:avLst/>
          </a:prstGeom>
          <a:noFill/>
          <a:ln/>
        </p:spPr>
        <p:txBody>
          <a:bodyPr wrap="none" lIns="0" tIns="0" rIns="0" bIns="0" rtlCol="0" anchor="t"/>
          <a:lstStyle/>
          <a:p>
            <a:pPr algn="l" indent="0" marL="0">
              <a:lnSpc>
                <a:spcPts val="1900"/>
              </a:lnSpc>
              <a:buNone/>
            </a:pPr>
            <a:r>
              <a:rPr lang="en-US" sz="1500" dirty="0">
                <a:solidFill>
                  <a:srgbClr val="CAD6DE"/>
                </a:solidFill>
                <a:latin typeface="Unbounded" pitchFamily="34" charset="0"/>
                <a:ea typeface="Unbounded" pitchFamily="34" charset="-122"/>
                <a:cs typeface="Unbounded" pitchFamily="34" charset="-120"/>
              </a:rPr>
              <a:t>Telegram Bot (Weeks 9-10):</a:t>
            </a:r>
            <a:endParaRPr lang="en-US" sz="1500" dirty="0"/>
          </a:p>
        </p:txBody>
      </p:sp>
      <p:sp>
        <p:nvSpPr>
          <p:cNvPr id="28" name="Text 26"/>
          <p:cNvSpPr/>
          <p:nvPr/>
        </p:nvSpPr>
        <p:spPr>
          <a:xfrm>
            <a:off x="1746647" y="6229231"/>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CAD6DE"/>
                </a:solidFill>
                <a:latin typeface="Cabin" pitchFamily="34" charset="0"/>
                <a:ea typeface="Cabin" pitchFamily="34" charset="-122"/>
                <a:cs typeface="Cabin" pitchFamily="34" charset="-120"/>
              </a:rPr>
              <a:t>Bot creation and command integration.</a:t>
            </a:r>
            <a:endParaRPr lang="en-US" sz="1300" dirty="0"/>
          </a:p>
        </p:txBody>
      </p:sp>
      <p:sp>
        <p:nvSpPr>
          <p:cNvPr id="29" name="Shape 27"/>
          <p:cNvSpPr/>
          <p:nvPr/>
        </p:nvSpPr>
        <p:spPr>
          <a:xfrm>
            <a:off x="995898" y="7190661"/>
            <a:ext cx="582216" cy="22860"/>
          </a:xfrm>
          <a:prstGeom prst="roundRect">
            <a:avLst>
              <a:gd name="adj" fmla="val 109164"/>
            </a:avLst>
          </a:prstGeom>
          <a:solidFill>
            <a:srgbClr val="49606E"/>
          </a:solidFill>
          <a:ln/>
        </p:spPr>
      </p:sp>
      <p:sp>
        <p:nvSpPr>
          <p:cNvPr id="30" name="Shape 28"/>
          <p:cNvSpPr/>
          <p:nvPr/>
        </p:nvSpPr>
        <p:spPr>
          <a:xfrm>
            <a:off x="644545" y="7015043"/>
            <a:ext cx="374213" cy="374213"/>
          </a:xfrm>
          <a:prstGeom prst="roundRect">
            <a:avLst>
              <a:gd name="adj" fmla="val 6669"/>
            </a:avLst>
          </a:prstGeom>
          <a:solidFill>
            <a:srgbClr val="304755"/>
          </a:solidFill>
          <a:ln/>
        </p:spPr>
      </p:sp>
      <p:sp>
        <p:nvSpPr>
          <p:cNvPr id="31" name="Text 29"/>
          <p:cNvSpPr/>
          <p:nvPr/>
        </p:nvSpPr>
        <p:spPr>
          <a:xfrm>
            <a:off x="734794" y="7084695"/>
            <a:ext cx="193715" cy="234910"/>
          </a:xfrm>
          <a:prstGeom prst="rect">
            <a:avLst/>
          </a:prstGeom>
          <a:noFill/>
          <a:ln/>
        </p:spPr>
        <p:txBody>
          <a:bodyPr wrap="none" lIns="0" tIns="0" rIns="0" bIns="0" rtlCol="0" anchor="t"/>
          <a:lstStyle/>
          <a:p>
            <a:pPr algn="ctr" indent="0" marL="0">
              <a:lnSpc>
                <a:spcPts val="1800"/>
              </a:lnSpc>
              <a:buNone/>
            </a:pPr>
            <a:r>
              <a:rPr lang="en-US" sz="1800" dirty="0">
                <a:solidFill>
                  <a:srgbClr val="CAD6DE"/>
                </a:solidFill>
                <a:latin typeface="Unbounded" pitchFamily="34" charset="0"/>
                <a:ea typeface="Unbounded" pitchFamily="34" charset="-122"/>
                <a:cs typeface="Unbounded" pitchFamily="34" charset="-120"/>
              </a:rPr>
              <a:t>6</a:t>
            </a:r>
            <a:endParaRPr lang="en-US" sz="1800" dirty="0"/>
          </a:p>
        </p:txBody>
      </p:sp>
      <p:sp>
        <p:nvSpPr>
          <p:cNvPr id="32" name="Text 30"/>
          <p:cNvSpPr/>
          <p:nvPr/>
        </p:nvSpPr>
        <p:spPr>
          <a:xfrm>
            <a:off x="1746647" y="6994327"/>
            <a:ext cx="4028837" cy="244673"/>
          </a:xfrm>
          <a:prstGeom prst="rect">
            <a:avLst/>
          </a:prstGeom>
          <a:noFill/>
          <a:ln/>
        </p:spPr>
        <p:txBody>
          <a:bodyPr wrap="none" lIns="0" tIns="0" rIns="0" bIns="0" rtlCol="0" anchor="t"/>
          <a:lstStyle/>
          <a:p>
            <a:pPr algn="l" indent="0" marL="0">
              <a:lnSpc>
                <a:spcPts val="1900"/>
              </a:lnSpc>
              <a:buNone/>
            </a:pPr>
            <a:r>
              <a:rPr lang="en-US" sz="1500" dirty="0">
                <a:solidFill>
                  <a:srgbClr val="CAD6DE"/>
                </a:solidFill>
                <a:latin typeface="Unbounded" pitchFamily="34" charset="0"/>
                <a:ea typeface="Unbounded" pitchFamily="34" charset="-122"/>
                <a:cs typeface="Unbounded" pitchFamily="34" charset="-120"/>
              </a:rPr>
              <a:t>Testing &amp; Refinement (Weeks 11-12):</a:t>
            </a:r>
            <a:endParaRPr lang="en-US" sz="1500" dirty="0"/>
          </a:p>
        </p:txBody>
      </p:sp>
      <p:sp>
        <p:nvSpPr>
          <p:cNvPr id="33" name="Text 31"/>
          <p:cNvSpPr/>
          <p:nvPr/>
        </p:nvSpPr>
        <p:spPr>
          <a:xfrm>
            <a:off x="1746647" y="7338774"/>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CAD6DE"/>
                </a:solidFill>
                <a:latin typeface="Cabin" pitchFamily="34" charset="0"/>
                <a:ea typeface="Cabin" pitchFamily="34" charset="-122"/>
                <a:cs typeface="Cabin" pitchFamily="34" charset="-120"/>
              </a:rPr>
              <a:t>Final testing, deployment preparations.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828" y="930116"/>
            <a:ext cx="7627144" cy="1274683"/>
          </a:xfrm>
          <a:prstGeom prst="rect">
            <a:avLst/>
          </a:prstGeom>
          <a:noFill/>
          <a:ln/>
        </p:spPr>
        <p:txBody>
          <a:bodyPr wrap="square" lIns="0" tIns="0" rIns="0" bIns="0" rtlCol="0" anchor="t"/>
          <a:lstStyle/>
          <a:p>
            <a:pPr indent="0" marL="0">
              <a:lnSpc>
                <a:spcPts val="5000"/>
              </a:lnSpc>
              <a:buNone/>
            </a:pPr>
            <a:r>
              <a:rPr lang="en-US" sz="4000" dirty="0">
                <a:solidFill>
                  <a:srgbClr val="FFFFFF"/>
                </a:solidFill>
                <a:latin typeface="Unbounded" pitchFamily="34" charset="0"/>
                <a:ea typeface="Unbounded" pitchFamily="34" charset="-122"/>
                <a:cs typeface="Unbounded" pitchFamily="34" charset="-120"/>
              </a:rPr>
              <a:t>Team Roles &amp; Responsibilities</a:t>
            </a:r>
            <a:endParaRPr lang="en-US" sz="4000" dirty="0"/>
          </a:p>
        </p:txBody>
      </p:sp>
      <p:pic>
        <p:nvPicPr>
          <p:cNvPr id="4" name="Image 1" descr="preencoded.png">    </p:cNvPr>
          <p:cNvPicPr>
            <a:picLocks noChangeAspect="1"/>
          </p:cNvPicPr>
          <p:nvPr/>
        </p:nvPicPr>
        <p:blipFill>
          <a:blip r:embed="rId2"/>
          <a:stretch>
            <a:fillRect/>
          </a:stretch>
        </p:blipFill>
        <p:spPr>
          <a:xfrm>
            <a:off x="6244828" y="2529840"/>
            <a:ext cx="541734" cy="541734"/>
          </a:xfrm>
          <a:prstGeom prst="rect">
            <a:avLst/>
          </a:prstGeom>
        </p:spPr>
      </p:pic>
      <p:sp>
        <p:nvSpPr>
          <p:cNvPr id="5" name="Text 1"/>
          <p:cNvSpPr/>
          <p:nvPr/>
        </p:nvSpPr>
        <p:spPr>
          <a:xfrm>
            <a:off x="6244828" y="3288268"/>
            <a:ext cx="3651052" cy="637223"/>
          </a:xfrm>
          <a:prstGeom prst="rect">
            <a:avLst/>
          </a:prstGeom>
          <a:noFill/>
          <a:ln/>
        </p:spPr>
        <p:txBody>
          <a:bodyPr wrap="square" lIns="0" tIns="0" rIns="0" bIns="0" rtlCol="0" anchor="t"/>
          <a:lstStyle/>
          <a:p>
            <a:pPr algn="l" indent="0" marL="0">
              <a:lnSpc>
                <a:spcPts val="2500"/>
              </a:lnSpc>
              <a:buNone/>
            </a:pPr>
            <a:r>
              <a:rPr lang="en-US" sz="2000" dirty="0">
                <a:solidFill>
                  <a:srgbClr val="CAD6DE"/>
                </a:solidFill>
                <a:latin typeface="Unbounded" pitchFamily="34" charset="0"/>
                <a:ea typeface="Unbounded" pitchFamily="34" charset="-122"/>
                <a:cs typeface="Unbounded" pitchFamily="34" charset="-120"/>
              </a:rPr>
              <a:t>Data Engineer (Anastasia):</a:t>
            </a:r>
            <a:endParaRPr lang="en-US" sz="2000" dirty="0"/>
          </a:p>
        </p:txBody>
      </p:sp>
      <p:sp>
        <p:nvSpPr>
          <p:cNvPr id="6" name="Text 2"/>
          <p:cNvSpPr/>
          <p:nvPr/>
        </p:nvSpPr>
        <p:spPr>
          <a:xfrm>
            <a:off x="6244828" y="4055507"/>
            <a:ext cx="3651052" cy="346710"/>
          </a:xfrm>
          <a:prstGeom prst="rect">
            <a:avLst/>
          </a:prstGeom>
          <a:noFill/>
          <a:ln/>
        </p:spPr>
        <p:txBody>
          <a:bodyPr wrap="none" lIns="0" tIns="0" rIns="0" bIns="0" rtlCol="0" anchor="t"/>
          <a:lstStyle/>
          <a:p>
            <a:pPr algn="l" indent="0" marL="0">
              <a:lnSpc>
                <a:spcPts val="2700"/>
              </a:lnSpc>
              <a:buNone/>
            </a:pPr>
            <a:r>
              <a:rPr lang="en-US" sz="1700" dirty="0">
                <a:solidFill>
                  <a:srgbClr val="CAD6DE"/>
                </a:solidFill>
                <a:latin typeface="Cabin" pitchFamily="34" charset="0"/>
                <a:ea typeface="Cabin" pitchFamily="34" charset="-122"/>
                <a:cs typeface="Cabin" pitchFamily="34" charset="-120"/>
              </a:rPr>
              <a:t>Data collection, cleaning, storage setup.</a:t>
            </a:r>
            <a:endParaRPr lang="en-US" sz="1700" dirty="0"/>
          </a:p>
        </p:txBody>
      </p:sp>
      <p:pic>
        <p:nvPicPr>
          <p:cNvPr id="7" name="Image 2" descr="preencoded.png">    </p:cNvPr>
          <p:cNvPicPr>
            <a:picLocks noChangeAspect="1"/>
          </p:cNvPicPr>
          <p:nvPr/>
        </p:nvPicPr>
        <p:blipFill>
          <a:blip r:embed="rId3"/>
          <a:stretch>
            <a:fillRect/>
          </a:stretch>
        </p:blipFill>
        <p:spPr>
          <a:xfrm>
            <a:off x="10220920" y="2529840"/>
            <a:ext cx="541734" cy="541734"/>
          </a:xfrm>
          <a:prstGeom prst="rect">
            <a:avLst/>
          </a:prstGeom>
        </p:spPr>
      </p:pic>
      <p:sp>
        <p:nvSpPr>
          <p:cNvPr id="8" name="Text 3"/>
          <p:cNvSpPr/>
          <p:nvPr/>
        </p:nvSpPr>
        <p:spPr>
          <a:xfrm>
            <a:off x="10220920" y="3288268"/>
            <a:ext cx="3200519" cy="318611"/>
          </a:xfrm>
          <a:prstGeom prst="rect">
            <a:avLst/>
          </a:prstGeom>
          <a:noFill/>
          <a:ln/>
        </p:spPr>
        <p:txBody>
          <a:bodyPr wrap="none" lIns="0" tIns="0" rIns="0" bIns="0" rtlCol="0" anchor="t"/>
          <a:lstStyle/>
          <a:p>
            <a:pPr algn="l" indent="0" marL="0">
              <a:lnSpc>
                <a:spcPts val="2500"/>
              </a:lnSpc>
              <a:buNone/>
            </a:pPr>
            <a:r>
              <a:rPr lang="en-US" sz="2000" dirty="0">
                <a:solidFill>
                  <a:srgbClr val="CAD6DE"/>
                </a:solidFill>
                <a:latin typeface="Unbounded" pitchFamily="34" charset="0"/>
                <a:ea typeface="Unbounded" pitchFamily="34" charset="-122"/>
                <a:cs typeface="Unbounded" pitchFamily="34" charset="-120"/>
              </a:rPr>
              <a:t>NLP Engineer (Diana):</a:t>
            </a:r>
            <a:endParaRPr lang="en-US" sz="2000" dirty="0"/>
          </a:p>
        </p:txBody>
      </p:sp>
      <p:sp>
        <p:nvSpPr>
          <p:cNvPr id="9" name="Text 4"/>
          <p:cNvSpPr/>
          <p:nvPr/>
        </p:nvSpPr>
        <p:spPr>
          <a:xfrm>
            <a:off x="10220920" y="3736896"/>
            <a:ext cx="3651052" cy="693420"/>
          </a:xfrm>
          <a:prstGeom prst="rect">
            <a:avLst/>
          </a:prstGeom>
          <a:noFill/>
          <a:ln/>
        </p:spPr>
        <p:txBody>
          <a:bodyPr wrap="square" lIns="0" tIns="0" rIns="0" bIns="0" rtlCol="0" anchor="t"/>
          <a:lstStyle/>
          <a:p>
            <a:pPr algn="l" indent="0" marL="0">
              <a:lnSpc>
                <a:spcPts val="2700"/>
              </a:lnSpc>
              <a:buNone/>
            </a:pPr>
            <a:r>
              <a:rPr lang="en-US" sz="1700" dirty="0">
                <a:solidFill>
                  <a:srgbClr val="CAD6DE"/>
                </a:solidFill>
                <a:latin typeface="Cabin" pitchFamily="34" charset="0"/>
                <a:ea typeface="Cabin" pitchFamily="34" charset="-122"/>
                <a:cs typeface="Cabin" pitchFamily="34" charset="-120"/>
              </a:rPr>
              <a:t>Text analysis, sentiment and semantic search implementation.</a:t>
            </a:r>
            <a:endParaRPr lang="en-US" sz="1700" dirty="0"/>
          </a:p>
        </p:txBody>
      </p:sp>
      <p:pic>
        <p:nvPicPr>
          <p:cNvPr id="10" name="Image 3" descr="preencoded.png">    </p:cNvPr>
          <p:cNvPicPr>
            <a:picLocks noChangeAspect="1"/>
          </p:cNvPicPr>
          <p:nvPr/>
        </p:nvPicPr>
        <p:blipFill>
          <a:blip r:embed="rId4"/>
          <a:stretch>
            <a:fillRect/>
          </a:stretch>
        </p:blipFill>
        <p:spPr>
          <a:xfrm>
            <a:off x="6244828" y="5080397"/>
            <a:ext cx="541734" cy="541734"/>
          </a:xfrm>
          <a:prstGeom prst="rect">
            <a:avLst/>
          </a:prstGeom>
        </p:spPr>
      </p:pic>
      <p:sp>
        <p:nvSpPr>
          <p:cNvPr id="11" name="Text 5"/>
          <p:cNvSpPr/>
          <p:nvPr/>
        </p:nvSpPr>
        <p:spPr>
          <a:xfrm>
            <a:off x="6244828" y="5838825"/>
            <a:ext cx="3651052" cy="637223"/>
          </a:xfrm>
          <a:prstGeom prst="rect">
            <a:avLst/>
          </a:prstGeom>
          <a:noFill/>
          <a:ln/>
        </p:spPr>
        <p:txBody>
          <a:bodyPr wrap="square" lIns="0" tIns="0" rIns="0" bIns="0" rtlCol="0" anchor="t"/>
          <a:lstStyle/>
          <a:p>
            <a:pPr algn="l" indent="0" marL="0">
              <a:lnSpc>
                <a:spcPts val="2500"/>
              </a:lnSpc>
              <a:buNone/>
            </a:pPr>
            <a:r>
              <a:rPr lang="en-US" sz="2000" dirty="0">
                <a:solidFill>
                  <a:srgbClr val="CAD6DE"/>
                </a:solidFill>
                <a:latin typeface="Unbounded" pitchFamily="34" charset="0"/>
                <a:ea typeface="Unbounded" pitchFamily="34" charset="-122"/>
                <a:cs typeface="Unbounded" pitchFamily="34" charset="-120"/>
              </a:rPr>
              <a:t>Backend Developer (Alsu):</a:t>
            </a:r>
            <a:endParaRPr lang="en-US" sz="2000" dirty="0"/>
          </a:p>
        </p:txBody>
      </p:sp>
      <p:sp>
        <p:nvSpPr>
          <p:cNvPr id="12" name="Text 6"/>
          <p:cNvSpPr/>
          <p:nvPr/>
        </p:nvSpPr>
        <p:spPr>
          <a:xfrm>
            <a:off x="6244828" y="6606064"/>
            <a:ext cx="3651052" cy="693420"/>
          </a:xfrm>
          <a:prstGeom prst="rect">
            <a:avLst/>
          </a:prstGeom>
          <a:noFill/>
          <a:ln/>
        </p:spPr>
        <p:txBody>
          <a:bodyPr wrap="square" lIns="0" tIns="0" rIns="0" bIns="0" rtlCol="0" anchor="t"/>
          <a:lstStyle/>
          <a:p>
            <a:pPr algn="l" indent="0" marL="0">
              <a:lnSpc>
                <a:spcPts val="2700"/>
              </a:lnSpc>
              <a:buNone/>
            </a:pPr>
            <a:r>
              <a:rPr lang="en-US" sz="1700" dirty="0">
                <a:solidFill>
                  <a:srgbClr val="CAD6DE"/>
                </a:solidFill>
                <a:latin typeface="Cabin" pitchFamily="34" charset="0"/>
                <a:ea typeface="Cabin" pitchFamily="34" charset="-122"/>
                <a:cs typeface="Cabin" pitchFamily="34" charset="-120"/>
              </a:rPr>
              <a:t>API design, database integration, performance optimization.</a:t>
            </a:r>
            <a:endParaRPr lang="en-US" sz="1700" dirty="0"/>
          </a:p>
        </p:txBody>
      </p:sp>
      <p:pic>
        <p:nvPicPr>
          <p:cNvPr id="13" name="Image 4" descr="preencoded.png">    </p:cNvPr>
          <p:cNvPicPr>
            <a:picLocks noChangeAspect="1"/>
          </p:cNvPicPr>
          <p:nvPr/>
        </p:nvPicPr>
        <p:blipFill>
          <a:blip r:embed="rId5"/>
          <a:stretch>
            <a:fillRect/>
          </a:stretch>
        </p:blipFill>
        <p:spPr>
          <a:xfrm>
            <a:off x="10220920" y="5080397"/>
            <a:ext cx="541734" cy="541734"/>
          </a:xfrm>
          <a:prstGeom prst="rect">
            <a:avLst/>
          </a:prstGeom>
        </p:spPr>
      </p:pic>
      <p:sp>
        <p:nvSpPr>
          <p:cNvPr id="14" name="Text 7"/>
          <p:cNvSpPr/>
          <p:nvPr/>
        </p:nvSpPr>
        <p:spPr>
          <a:xfrm>
            <a:off x="10220920" y="5838825"/>
            <a:ext cx="3249216" cy="318611"/>
          </a:xfrm>
          <a:prstGeom prst="rect">
            <a:avLst/>
          </a:prstGeom>
          <a:noFill/>
          <a:ln/>
        </p:spPr>
        <p:txBody>
          <a:bodyPr wrap="none" lIns="0" tIns="0" rIns="0" bIns="0" rtlCol="0" anchor="t"/>
          <a:lstStyle/>
          <a:p>
            <a:pPr algn="l" indent="0" marL="0">
              <a:lnSpc>
                <a:spcPts val="2500"/>
              </a:lnSpc>
              <a:buNone/>
            </a:pPr>
            <a:r>
              <a:rPr lang="en-US" sz="2000" dirty="0">
                <a:solidFill>
                  <a:srgbClr val="CAD6DE"/>
                </a:solidFill>
                <a:latin typeface="Unbounded" pitchFamily="34" charset="0"/>
                <a:ea typeface="Unbounded" pitchFamily="34" charset="-122"/>
                <a:cs typeface="Unbounded" pitchFamily="34" charset="-120"/>
              </a:rPr>
              <a:t>Bot Developer (Zlata):</a:t>
            </a:r>
            <a:endParaRPr lang="en-US" sz="2000" dirty="0"/>
          </a:p>
        </p:txBody>
      </p:sp>
      <p:sp>
        <p:nvSpPr>
          <p:cNvPr id="15" name="Text 8"/>
          <p:cNvSpPr/>
          <p:nvPr/>
        </p:nvSpPr>
        <p:spPr>
          <a:xfrm>
            <a:off x="10220920" y="6287453"/>
            <a:ext cx="3651052" cy="693420"/>
          </a:xfrm>
          <a:prstGeom prst="rect">
            <a:avLst/>
          </a:prstGeom>
          <a:noFill/>
          <a:ln/>
        </p:spPr>
        <p:txBody>
          <a:bodyPr wrap="square" lIns="0" tIns="0" rIns="0" bIns="0" rtlCol="0" anchor="t"/>
          <a:lstStyle/>
          <a:p>
            <a:pPr algn="l" indent="0" marL="0">
              <a:lnSpc>
                <a:spcPts val="2700"/>
              </a:lnSpc>
              <a:buNone/>
            </a:pPr>
            <a:r>
              <a:rPr lang="en-US" sz="1700" dirty="0">
                <a:solidFill>
                  <a:srgbClr val="CAD6DE"/>
                </a:solidFill>
                <a:latin typeface="Cabin" pitchFamily="34" charset="0"/>
                <a:ea typeface="Cabin" pitchFamily="34" charset="-122"/>
                <a:cs typeface="Cabin" pitchFamily="34" charset="-120"/>
              </a:rPr>
              <a:t>Telegram bot development, interface design, user command handling.</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2294215"/>
            <a:ext cx="10348198"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Unbounded" pitchFamily="34" charset="0"/>
                <a:ea typeface="Unbounded" pitchFamily="34" charset="-122"/>
                <a:cs typeface="Unbounded" pitchFamily="34" charset="-120"/>
              </a:rPr>
              <a:t>Risk Management &amp; Mitigation</a:t>
            </a:r>
            <a:endParaRPr lang="en-US" sz="4400" dirty="0"/>
          </a:p>
        </p:txBody>
      </p:sp>
      <p:sp>
        <p:nvSpPr>
          <p:cNvPr id="3" name="Text 1"/>
          <p:cNvSpPr/>
          <p:nvPr/>
        </p:nvSpPr>
        <p:spPr>
          <a:xfrm>
            <a:off x="837724" y="3596521"/>
            <a:ext cx="2816185"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Unbounded" pitchFamily="34" charset="0"/>
                <a:ea typeface="Unbounded" pitchFamily="34" charset="-122"/>
                <a:cs typeface="Unbounded" pitchFamily="34" charset="-120"/>
              </a:rPr>
              <a:t>Identified Risks:</a:t>
            </a:r>
            <a:endParaRPr lang="en-US" sz="2200" dirty="0"/>
          </a:p>
        </p:txBody>
      </p:sp>
      <p:sp>
        <p:nvSpPr>
          <p:cNvPr id="4" name="Text 2"/>
          <p:cNvSpPr/>
          <p:nvPr/>
        </p:nvSpPr>
        <p:spPr>
          <a:xfrm>
            <a:off x="837724" y="4187785"/>
            <a:ext cx="6185535" cy="1532096"/>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Data Source Unavailability: Contingency data sources in place. Integration Challenges: Regular testing and incremental integration. Timeline Delays: Buffer periods and agile iterations.</a:t>
            </a:r>
            <a:endParaRPr lang="en-US" sz="1850" dirty="0"/>
          </a:p>
        </p:txBody>
      </p:sp>
      <p:sp>
        <p:nvSpPr>
          <p:cNvPr id="5" name="Text 3"/>
          <p:cNvSpPr/>
          <p:nvPr/>
        </p:nvSpPr>
        <p:spPr>
          <a:xfrm>
            <a:off x="7614761" y="3596521"/>
            <a:ext cx="3672007"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Unbounded" pitchFamily="34" charset="0"/>
                <a:ea typeface="Unbounded" pitchFamily="34" charset="-122"/>
                <a:cs typeface="Unbounded" pitchFamily="34" charset="-120"/>
              </a:rPr>
              <a:t>Mitigation Strategies:</a:t>
            </a:r>
            <a:endParaRPr lang="en-US" sz="2200" dirty="0"/>
          </a:p>
        </p:txBody>
      </p:sp>
      <p:sp>
        <p:nvSpPr>
          <p:cNvPr id="6" name="Text 4"/>
          <p:cNvSpPr/>
          <p:nvPr/>
        </p:nvSpPr>
        <p:spPr>
          <a:xfrm>
            <a:off x="7614761" y="4187785"/>
            <a:ext cx="6185535" cy="1149072"/>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Proactive monitoring and alternative APIs. Frequent team syncs and integration reviews. Flexible planning to adjust to unforeseen challenges.</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3008709"/>
            <a:ext cx="6032659"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Unbounded" pitchFamily="34" charset="0"/>
                <a:ea typeface="Unbounded" pitchFamily="34" charset="-122"/>
                <a:cs typeface="Unbounded" pitchFamily="34" charset="-120"/>
              </a:rPr>
              <a:t>Conclusion &amp; Q&amp;A</a:t>
            </a:r>
            <a:endParaRPr lang="en-US" sz="4400" dirty="0"/>
          </a:p>
        </p:txBody>
      </p:sp>
      <p:sp>
        <p:nvSpPr>
          <p:cNvPr id="4" name="Text 1"/>
          <p:cNvSpPr/>
          <p:nvPr/>
        </p:nvSpPr>
        <p:spPr>
          <a:xfrm>
            <a:off x="6324124" y="4071699"/>
            <a:ext cx="7468553" cy="1149072"/>
          </a:xfrm>
          <a:prstGeom prst="rect">
            <a:avLst/>
          </a:prstGeom>
          <a:noFill/>
          <a:ln/>
        </p:spPr>
        <p:txBody>
          <a:bodyPr wrap="square" lIns="0" tIns="0" rIns="0" bIns="0" rtlCol="0" anchor="t"/>
          <a:lstStyle/>
          <a:p>
            <a:pPr indent="0" marL="0">
              <a:lnSpc>
                <a:spcPts val="3000"/>
              </a:lnSpc>
              <a:buNone/>
            </a:pPr>
            <a:r>
              <a:rPr lang="en-US" sz="1850" dirty="0">
                <a:solidFill>
                  <a:srgbClr val="CAD6DE"/>
                </a:solidFill>
                <a:latin typeface="Cabin" pitchFamily="34" charset="0"/>
                <a:ea typeface="Cabin" pitchFamily="34" charset="-122"/>
                <a:cs typeface="Cabin" pitchFamily="34" charset="-120"/>
              </a:rPr>
              <a:t>Lost&amp;Found promises to transform travel planning by providing personalized and deeply enriched travel recommendations directly within Telegram. </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2025-02-04T16:24:40Z</dcterms:created>
  <dcterms:modified xsi:type="dcterms:W3CDTF">2025-02-04T16:24:40Z</dcterms:modified>
</cp:coreProperties>
</file>